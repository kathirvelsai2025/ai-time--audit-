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Time-Audit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CAPSTONE 42 | Before and After Productivity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Research question: How much time can AI save across common student or office tasks?</a:t>
            </a:r>
          </a:p>
          <a:p>
            <a:pPr>
              <a:spcAft>
                <a:spcPts val="1400"/>
              </a:spcAft>
              <a:defRPr sz="2200"/>
            </a:pPr>
            <a:r>
              <a:t>Compare six tasks with and without AI assistance.</a:t>
            </a:r>
          </a:p>
          <a:p>
            <a:pPr>
              <a:spcAft>
                <a:spcPts val="1400"/>
              </a:spcAft>
              <a:defRPr sz="2200"/>
            </a:pPr>
            <a:r>
              <a:t>Evaluate both speed and output quality.</a:t>
            </a:r>
          </a:p>
          <a:p>
            <a:pPr>
              <a:spcAft>
                <a:spcPts val="1400"/>
              </a:spcAft>
              <a:defRPr sz="2200"/>
            </a:pPr>
            <a:r>
              <a:t>Illustrative demo dataset — replace with measured observations.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Tasks and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 fair comparison includes prompting, review, and rework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Summarising notes • Formal email • Weekly schedule</a:t>
            </a:r>
          </a:p>
          <a:p>
            <a:pPr>
              <a:spcAft>
                <a:spcPts val="1400"/>
              </a:spcAft>
              <a:defRPr sz="2100"/>
            </a:pPr>
            <a:r>
              <a:t>Research comparison • Spreadsheet formulas • Presentation outline</a:t>
            </a:r>
          </a:p>
          <a:p>
            <a:pPr>
              <a:spcAft>
                <a:spcPts val="1400"/>
              </a:spcAft>
              <a:defRPr sz="2100"/>
            </a:pPr>
            <a:r>
              <a:t>Record manual time and AI-assisted time using matched briefs.</a:t>
            </a:r>
          </a:p>
          <a:p>
            <a:pPr>
              <a:spcAft>
                <a:spcPts val="1400"/>
              </a:spcAft>
              <a:defRPr sz="2100"/>
            </a:pPr>
            <a:r>
              <a:t>Score outputs on the same 1–5 rubric; use a blind reviewer if possible.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Time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Example figures only — not real experiment results</a:t>
            </a:r>
          </a:p>
        </p:txBody>
      </p:sp>
      <p:pic>
        <p:nvPicPr>
          <p:cNvPr id="4" name="Picture 3" descr="tim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10698480" cy="62051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Illustrative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Manual 178 min | AI-assisted 71 min | Difference 107 min (60.1%)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Average quality: manual 3.83/5; AI-assisted 3.83/5.</a:t>
            </a:r>
          </a:p>
          <a:p>
            <a:pPr>
              <a:spcAft>
                <a:spcPts val="1400"/>
              </a:spcAft>
              <a:defRPr sz="2100"/>
            </a:pPr>
            <a:r>
              <a:t>The research-comparison example has lower AI quality, highlighting the need for source checks.</a:t>
            </a:r>
          </a:p>
          <a:p>
            <a:pPr>
              <a:spcAft>
                <a:spcPts val="1400"/>
              </a:spcAft>
              <a:defRPr sz="2100"/>
            </a:pPr>
            <a:r>
              <a:t>Speed is only useful when the output remains accurate and fit for purpose.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Quality and 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Illustrative quality scores</a:t>
            </a:r>
          </a:p>
        </p:txBody>
      </p:sp>
      <p:pic>
        <p:nvPicPr>
          <p:cNvPr id="4" name="Picture 3" descr="qualit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400800" cy="3712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82880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800"/>
            </a:pPr>
            <a:r>
              <a:t>Verify facts and citations.</a:t>
            </a:r>
          </a:p>
          <a:p>
            <a:pPr>
              <a:spcAft>
                <a:spcPts val="1400"/>
              </a:spcAft>
              <a:defRPr sz="1800"/>
            </a:pPr>
            <a:r>
              <a:t>Test formulas on edge cases.</a:t>
            </a:r>
          </a:p>
          <a:p>
            <a:pPr>
              <a:spcAft>
                <a:spcPts val="1400"/>
              </a:spcAft>
              <a:defRPr sz="1800"/>
            </a:pPr>
            <a:r>
              <a:t>Include correction time.</a:t>
            </a:r>
          </a:p>
          <a:p>
            <a:pPr>
              <a:spcAft>
                <a:spcPts val="1400"/>
              </a:spcAft>
              <a:defRPr sz="1800"/>
            </a:pPr>
            <a:r>
              <a:t>Protect private information.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Replace sample values with actual timed runs.</a:t>
            </a:r>
          </a:p>
          <a:p>
            <a:pPr>
              <a:spcAft>
                <a:spcPts val="1400"/>
              </a:spcAft>
              <a:defRPr sz="2100"/>
            </a:pPr>
            <a:r>
              <a:t>Repeat tasks and apply consistent quality scoring.</a:t>
            </a:r>
          </a:p>
          <a:p>
            <a:pPr>
              <a:spcAft>
                <a:spcPts val="1400"/>
              </a:spcAft>
              <a:defRPr sz="2100"/>
            </a:pPr>
            <a:r>
              <a:t>Report task-by-task differences and limitations.</a:t>
            </a:r>
          </a:p>
          <a:p>
            <a:pPr>
              <a:spcAft>
                <a:spcPts val="1400"/>
              </a:spcAft>
              <a:defRPr sz="2100"/>
            </a:pPr>
            <a:r>
              <a:t>Discuss when AI made work worse, not only when it saved time.</a:t>
            </a:r>
          </a:p>
          <a:p>
            <a:pPr>
              <a:spcAft>
                <a:spcPts val="1400"/>
              </a:spcAft>
              <a:defRPr sz="2100"/>
            </a:pPr>
            <a:r>
              <a:t>Final claim must be based on verified observations.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